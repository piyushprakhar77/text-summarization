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71" r:id="rId5"/>
    <p:sldId id="257" r:id="rId6"/>
    <p:sldId id="279" r:id="rId7"/>
    <p:sldId id="280" r:id="rId8"/>
    <p:sldId id="259" r:id="rId9"/>
    <p:sldId id="260" r:id="rId10"/>
    <p:sldId id="261" r:id="rId11"/>
    <p:sldId id="262" r:id="rId12"/>
    <p:sldId id="263" r:id="rId13"/>
    <p:sldId id="264" r:id="rId14"/>
    <p:sldId id="273" r:id="rId15"/>
    <p:sldId id="274" r:id="rId16"/>
    <p:sldId id="268" r:id="rId17"/>
    <p:sldId id="278" r:id="rId18"/>
    <p:sldId id="277" r:id="rId19"/>
    <p:sldId id="281" r:id="rId20"/>
    <p:sldId id="282" r:id="rId21"/>
    <p:sldId id="283" r:id="rId22"/>
    <p:sldId id="284" r:id="rId23"/>
    <p:sldId id="276" r:id="rId24"/>
    <p:sldId id="267" r:id="rId25"/>
    <p:sldId id="269" r:id="rId26"/>
    <p:sldId id="272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2D234-941B-63D7-450E-70F881015904}" v="107" dt="2025-11-26T17:03:46.371"/>
    <p1510:client id="{BEAC32C0-7773-BC3F-CD08-D12B47005BE8}" v="445" dt="2025-11-27T07:10:17.480"/>
    <p1510:client id="{EEE39997-F3B6-4409-8597-687B1748DA2C}" v="462" dt="2025-11-27T04:09:30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07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https://wikidocs.net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66EDA-6398-B534-5466-D7C3C959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0EF31-4AE6-25E1-13C9-F0C8F87D5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659F9-7F61-317C-CE0E-6D14B1EDE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https://wikidocs.net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4C87F-7BE6-CCC8-5CE8-102A8EDAFF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28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C3EC7-4A0D-689F-5E11-160A62DB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58F-254D-DB8E-C80F-45A708879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7F9A3-2832-19FF-28ED-FEE91DF9F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https://wikidocs.net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FD6FE-5754-FDF2-88BC-E953B0568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54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https://wikidocs.net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https://licor.me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https://dfzljdn9uc3pi.cloudfront.net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https://data-flair.training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https://blogs.mathworks.com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55D42-642B-1A50-353F-FD8F3DFB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F633E-71C8-50FE-BF8E-0F22190F7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DAD88-CE9A-7CA2-75A6-0C1F4F48C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https://www.slidemake.com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59B43-2D38-ADD3-4277-9A7A32D6DE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9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48CB-5C5D-B183-1B70-1CF00F3AB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35049-DCCB-3F71-1C43-A0C24AF94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5A68D-6805-4340-E492-D8FD163C8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https://www.slidemake.com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42DFB-5E53-B450-22A5-740B1740E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73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B644-A912-144B-899E-00DA2E46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E6C69-3F8E-2C62-7C37-E809824BA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6FF1D-5F51-33D8-2D38-9A8B41412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2A91B-BD8A-E5D9-EEA2-4EF0A4969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32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8B25-4C0F-2667-F6A4-363A6DC0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65FF8-6530-D162-5A3B-E96F6326E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0F134-D331-89FD-90F6-DCB260E0D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7C3A2-EDFC-D392-6FEF-1E64658751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05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5922E-2B6B-5632-2A9B-27F949B3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771E6-D184-C323-15ED-0C8EC2B8F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0E988-F7F3-FBB8-AF83-B124C6408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8DC94-B166-8E45-4793-629DBBA8B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48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9F11-DD99-F710-02C1-BD616F734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2EF39-EE9B-9E8E-7C71-992DD1475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56444-80A4-BC34-6E5C-C157A2287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C97FB-CC9F-B4BB-C255-B180C9208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46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5D09-7116-2FC3-2EC1-49399219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3EB77-287A-1CB3-42FF-4112B8661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C40C3-6612-9DF1-FBF2-61A8926CE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8CFAC-44CC-0851-57E6-7AAFA5557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45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F855-4726-0354-89F9-4353A8C3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902E7-B5BB-F519-61EC-7A3925E4C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A3D40-0694-3FBB-C252-D8C93D7B9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6AB56-133F-52A1-FA65-B3C94BC9B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78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36DF-C397-F82B-F232-92E2F9D13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B5D9C-BECD-21ED-9414-5D881AFBB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3E860-4F93-27E5-3F97-00CCF94E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3ED6D-F655-8F8A-7271-A847A4122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3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 source: https://image.slidesharecdn.com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2F75E-DD20-84D0-D16C-E97D09015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3EF01-CD65-F2D3-EFEE-7133C2F4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6116A-ADAB-46F6-728C-0460BAC3A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D7A0B-6583-E608-8938-093F52FEA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03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1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5790" y="1983659"/>
            <a:ext cx="6452420" cy="1042545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 </a:t>
            </a:r>
            <a:r>
              <a:rPr lang="en-US" sz="3600" b="1" dirty="0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Summarization</a:t>
            </a:r>
            <a:br>
              <a:rPr lang="en-US" sz="3600"/>
            </a:b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336" y="3374153"/>
            <a:ext cx="8377310" cy="1983659"/>
          </a:xfrm>
        </p:spPr>
        <p:txBody>
          <a:bodyPr lIns="91440" tIns="45720" rIns="91440" bIns="45720" anchor="t">
            <a:normAutofit/>
          </a:bodyPr>
          <a:lstStyle/>
          <a:p>
            <a:pPr algn="l"/>
            <a:r>
              <a:rPr lang="en-GB" sz="1800" b="1">
                <a:solidFill>
                  <a:schemeClr val="tx1"/>
                </a:solidFill>
                <a:latin typeface="Times New Roman"/>
                <a:cs typeface="Times New Roman"/>
              </a:rPr>
              <a:t>Presented by:                                                                              </a:t>
            </a:r>
            <a:r>
              <a:rPr lang="en-GB" sz="2000" b="1">
                <a:solidFill>
                  <a:schemeClr val="tx1"/>
                </a:solidFill>
                <a:latin typeface="Times New Roman"/>
                <a:cs typeface="Times New Roman"/>
              </a:rPr>
              <a:t>Presented To:</a:t>
            </a:r>
          </a:p>
          <a:p>
            <a:pPr algn="l"/>
            <a:r>
              <a:rPr lang="en-GB" sz="1600">
                <a:solidFill>
                  <a:schemeClr val="tx1"/>
                </a:solidFill>
                <a:latin typeface="Times New Roman"/>
                <a:cs typeface="Times New Roman"/>
              </a:rPr>
              <a:t>Piyush Prakhar (S25MCAG0109)                                                             Dr. Supriya Chanda</a:t>
            </a:r>
          </a:p>
          <a:p>
            <a:pPr algn="l"/>
            <a:r>
              <a:rPr lang="en-GB" sz="1600">
                <a:solidFill>
                  <a:schemeClr val="tx1"/>
                </a:solidFill>
                <a:latin typeface="Times New Roman"/>
                <a:cs typeface="Times New Roman"/>
              </a:rPr>
              <a:t>Ankit Kumar(S25MCAG0110)                                                                 Assistant Professor</a:t>
            </a:r>
          </a:p>
          <a:p>
            <a:pPr algn="l"/>
            <a:r>
              <a:rPr lang="en-GB" sz="1600">
                <a:solidFill>
                  <a:schemeClr val="tx1"/>
                </a:solidFill>
                <a:latin typeface="Times New Roman"/>
                <a:cs typeface="Times New Roman"/>
              </a:rPr>
              <a:t>Harsh Patel (S25MCAG0121)                                                                   Bennett University</a:t>
            </a:r>
          </a:p>
          <a:p>
            <a:pPr algn="l"/>
            <a:endParaRPr lang="en-GB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35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Vision, Mission &amp; Academic Partners of Bennett University">
            <a:extLst>
              <a:ext uri="{FF2B5EF4-FFF2-40B4-BE49-F238E27FC236}">
                <a16:creationId xmlns:a16="http://schemas.microsoft.com/office/drawing/2014/main" id="{3105A19B-B063-D012-B730-0F502E7B9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090" y="365023"/>
            <a:ext cx="3465872" cy="114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550069" y="18793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57199" y="800100"/>
            <a:ext cx="832246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>
              <a:solidFill>
                <a:srgbClr val="222222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B5DF80-E200-7517-7786-0F7DF8D0D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35" y="661601"/>
            <a:ext cx="846143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exponential growth of digital text has created a need for automated, reliable summarization techniques.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extractive models preserve factual content but often lack linguistic coherence.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abstractive models generate fluent summaries but may diverge from the source.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hybrid summarization framework integrates both approaches to achieve balanced performance.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employs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LexRank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extractive sentence selection and BART for abstractive refinement.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summaries aim to maintain factual accuracy while enhancing readability.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through ROUGE metrics ensures objective measurement of summarization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A5007-28FF-3B9E-8B7D-3B25034B1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7E4E3B-DFF5-A030-9F9D-FD4A86469278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7E308F-1C2E-A5B7-6D53-C921DA1BA482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18423C-6350-169B-03FA-1C26D0F1FDE3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4E9C8A8-0F43-3C6E-7E45-ACC4A24ABC9C}"/>
              </a:ext>
            </a:extLst>
          </p:cNvPr>
          <p:cNvSpPr/>
          <p:nvPr/>
        </p:nvSpPr>
        <p:spPr>
          <a:xfrm>
            <a:off x="550069" y="18793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Technology Used</a:t>
            </a:r>
            <a:endParaRPr lang="en-US" sz="2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60CE325-FAE8-F299-2F9B-7C3C26B25ADE}"/>
              </a:ext>
            </a:extLst>
          </p:cNvPr>
          <p:cNvSpPr/>
          <p:nvPr/>
        </p:nvSpPr>
        <p:spPr>
          <a:xfrm>
            <a:off x="457199" y="800100"/>
            <a:ext cx="832246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>
              <a:solidFill>
                <a:srgbClr val="222222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A7EFF6-BB51-AF14-5550-2D401034C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35" y="2169707"/>
            <a:ext cx="8461433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4F0C38E-1099-F06E-3AB2-E2E7C5B6C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09" y="1136254"/>
            <a:ext cx="8229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lightweight and interactive web interface.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 prototyping without complex HTML/CSS/JS.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UI Components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widgets such as text areas, buttons, dropdowns, and data tables.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real-time text input, summary display, and evaluation metric visualization.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a simple, user-friendly summarization dashboard.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03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1B007-37EC-4BFC-BBBA-633AC62FF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3A4880-03EA-D34C-A42B-4A53411CA422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593FDE-CE41-0950-E357-BF29DB03A9A5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F2A3A1-A0D5-8BA9-9B93-32C071A44B5B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62CBE62-2E9D-A612-69BB-7AF1E5A203E2}"/>
              </a:ext>
            </a:extLst>
          </p:cNvPr>
          <p:cNvSpPr/>
          <p:nvPr/>
        </p:nvSpPr>
        <p:spPr>
          <a:xfrm>
            <a:off x="550069" y="18793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Technology Used</a:t>
            </a:r>
            <a:endParaRPr lang="en-US" sz="2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3B92BDD-889C-6752-3871-E4ED60D34CCA}"/>
              </a:ext>
            </a:extLst>
          </p:cNvPr>
          <p:cNvSpPr/>
          <p:nvPr/>
        </p:nvSpPr>
        <p:spPr>
          <a:xfrm>
            <a:off x="457199" y="800100"/>
            <a:ext cx="832246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>
              <a:solidFill>
                <a:srgbClr val="222222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A7BCC9-D4CD-5BDE-F846-417AE2A2F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35" y="2169707"/>
            <a:ext cx="8461433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4C7271A-CDA1-DBCC-3439-AEC176A85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98" y="601682"/>
            <a:ext cx="833433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programming language powering the entire summarization pipeline.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NLTK (Natural Language Toolkit)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tokenization, sentence splitting,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removal, and lemmatization.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LexRank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(Extractive Summarization)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Graph-based algorithm that ranks and selects important sentences.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 (Abstractive Summarization)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sequence-to-sequence model from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a more natural, fluent, and concise summary.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ROUGE Score Module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 precision, recall, and F1 metrics to evaluate summary quality.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initial extractive summary.</a:t>
            </a:r>
          </a:p>
        </p:txBody>
      </p:sp>
    </p:spTree>
    <p:extLst>
      <p:ext uri="{BB962C8B-B14F-4D97-AF65-F5344CB8AC3E}">
        <p14:creationId xmlns:p14="http://schemas.microsoft.com/office/powerpoint/2010/main" val="262724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7" name="Text 3"/>
          <p:cNvSpPr/>
          <p:nvPr/>
        </p:nvSpPr>
        <p:spPr>
          <a:xfrm>
            <a:off x="457200" y="3517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Text Summarization techniques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22031" y="917916"/>
            <a:ext cx="8299938" cy="33867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fontAlgn="base">
              <a:lnSpc>
                <a:spcPct val="150000"/>
              </a:lnSpc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primary types of text summarization techniques:</a:t>
            </a: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Extractive Summarization: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generates summaries by selecting and combining key passages from the original text. Unlike human summarizers, these models focus on extracting the most important sentences without creating new content. </a:t>
            </a:r>
          </a:p>
          <a:p>
            <a:pPr marL="342900" indent="-3429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Abstractive Summarization: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generates entirely new sentences to convey key ideas from the original text. abstractive methods rephrase information in a more concise and coherent manner, often using new vocabulary that wasn't present in the original.</a:t>
            </a:r>
            <a:endParaRPr 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/>
          </a:p>
        </p:txBody>
      </p:sp>
      <p:pic>
        <p:nvPicPr>
          <p:cNvPr id="5" name="Image 0" descr="https://search-letsfade-com.herokuapp.com/proxy?url=https://licor.me/post/img/text-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7155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-22860"/>
            <a:ext cx="8229600" cy="761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Extractive Summarization Methods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1385668" y="2691325"/>
            <a:ext cx="4114800" cy="3543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E4510DA-4945-5BD5-B727-B7A431C03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38" y="601682"/>
            <a:ext cx="450166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most informative sentences directly from the input text.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LexRank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graph-based centrality algorithm similar to PageRank.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Builds a similarity graph where each node is equal to a sentence.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Computes cosine similarity between sentences using bag-of-words.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Ranks sentences by importance using eigenvector centrality.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Selects top 4 sentences as the extractive summary.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strong factual grounding because text is taken from original 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457200" y="-172673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Abstractive Summarization Methods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A91DF00-7310-99D3-6E54-82743CA05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78" y="623910"/>
            <a:ext cx="46282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BART-Large-CNN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transformer-based encoder–decoder model.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Takes extractive summary (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LexRank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output) as input.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Encodes input into latent representation using BART encoder.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sentences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deep learning.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Decoder generates new summary using beam search (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num_beams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=4).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smoother, human-like, tone-controlled summaries.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readability, coherence, and natural language flow.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AE61E5-7042-C573-05A1-964A94808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425" y="379828"/>
            <a:ext cx="2217566" cy="39612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457200" y="-1493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8ACAB4-EDCA-5170-6166-63A722301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56" y="631842"/>
            <a:ext cx="7408189" cy="3825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51E402-5D52-594A-87BA-8DBD4D5C24D0}"/>
              </a:ext>
            </a:extLst>
          </p:cNvPr>
          <p:cNvSpPr txBox="1"/>
          <p:nvPr/>
        </p:nvSpPr>
        <p:spPr>
          <a:xfrm>
            <a:off x="7059478" y="170481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0D7E11-7A60-55CE-9FC7-12115C1FC66C}"/>
              </a:ext>
            </a:extLst>
          </p:cNvPr>
          <p:cNvSpPr/>
          <p:nvPr/>
        </p:nvSpPr>
        <p:spPr>
          <a:xfrm>
            <a:off x="6152827" y="1053885"/>
            <a:ext cx="1604075" cy="3177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BART Prompt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A780CD-51C8-30EB-2D70-5B991DCD957A}"/>
              </a:ext>
            </a:extLst>
          </p:cNvPr>
          <p:cNvSpPr/>
          <p:nvPr/>
        </p:nvSpPr>
        <p:spPr>
          <a:xfrm>
            <a:off x="6152827" y="1596325"/>
            <a:ext cx="1604075" cy="3797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Using BART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92369C-7139-2928-7EE9-9446864DC007}"/>
              </a:ext>
            </a:extLst>
          </p:cNvPr>
          <p:cNvSpPr/>
          <p:nvPr/>
        </p:nvSpPr>
        <p:spPr>
          <a:xfrm>
            <a:off x="6152827" y="2185261"/>
            <a:ext cx="1604075" cy="30221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BART Encoder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144571-7F43-B327-DDB4-E52FB6634984}"/>
              </a:ext>
            </a:extLst>
          </p:cNvPr>
          <p:cNvSpPr/>
          <p:nvPr/>
        </p:nvSpPr>
        <p:spPr>
          <a:xfrm>
            <a:off x="6152827" y="2704454"/>
            <a:ext cx="1604075" cy="2867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BART Decoder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4886BB-7228-248C-5591-3FB85A935CCF}"/>
              </a:ext>
            </a:extLst>
          </p:cNvPr>
          <p:cNvSpPr/>
          <p:nvPr/>
        </p:nvSpPr>
        <p:spPr>
          <a:xfrm>
            <a:off x="6152827" y="3208149"/>
            <a:ext cx="1604075" cy="348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Decode Tokens to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457200" y="212003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Preprocessing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57200" y="814167"/>
            <a:ext cx="8229600" cy="35257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95D96D-54BB-BA8C-20E5-5ED565210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240" y="1117458"/>
            <a:ext cx="8135560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input text is first divided into individual sentences.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 and punctuation are removed to reduce noise.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 transforms words to their base form (e.g., “running” → “run”).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sentence is tokenized into words for easier processing.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“the”, “and”, “is”) are removed to retain only meaningful content.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A cleaned set of sentences ready for extractive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457200" y="21101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Extractive Summarization 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815926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sentences are converted into numerical vectors representing semantic meaning.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A similarity graph is constructed where: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Each sentence acts as a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Edges represent similarity scores between sentences.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LexRank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, a graph-based ranking algorithm, identifies the most central and informative sentences.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 top-ranked sentences are selected to form the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 Summary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Output: A concise extractive summary that captures the core ideas.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2402F-788F-E9DE-C200-F866EE2B9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1C7F6C-929F-CB7E-3447-27D39069E7EC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2D6CD1-A547-44E5-1EB8-B992C832F0AF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AA214C-731C-FB32-E056-A67D2BA5EBEA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BAC9217-186A-3F1B-BFFC-ADE2D8EFBB80}"/>
              </a:ext>
            </a:extLst>
          </p:cNvPr>
          <p:cNvSpPr/>
          <p:nvPr/>
        </p:nvSpPr>
        <p:spPr>
          <a:xfrm>
            <a:off x="457200" y="21101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Abstractive Summarization </a:t>
            </a:r>
            <a:endParaRPr lang="en-US" sz="2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C7D1130-AA38-96CD-3B85-66F68A73EB54}"/>
              </a:ext>
            </a:extLst>
          </p:cNvPr>
          <p:cNvSpPr/>
          <p:nvPr/>
        </p:nvSpPr>
        <p:spPr>
          <a:xfrm>
            <a:off x="457200" y="1143000"/>
            <a:ext cx="815926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B73FE7-74C0-3181-E735-4CA8FEAF9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3" y="914400"/>
            <a:ext cx="842332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BART prompt is created, including the extractive summary and a tone instruction (e.g., formal, neutral, news-like).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BART encoder processes the tokens and builds contextualized representations of the text.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BART decoder generates a rewritten, more fluent, and concise summary using beam search.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text is tokenized using the BART tokenizer to convert it into model-ready IDs.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tokens are converted back into readable text to form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Abstractive Summary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step ensures the final output is smooth, grammatically correct, and semantically rich.</a:t>
            </a:r>
          </a:p>
        </p:txBody>
      </p:sp>
    </p:spTree>
    <p:extLst>
      <p:ext uri="{BB962C8B-B14F-4D97-AF65-F5344CB8AC3E}">
        <p14:creationId xmlns:p14="http://schemas.microsoft.com/office/powerpoint/2010/main" val="2818059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7B46D-9CC7-344C-4698-3FFDA1B2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E154EC-659E-5693-CB0C-3FD4F8D40FDF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0885969-6F3B-09FD-B23B-BC365840C936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29E4DB-632E-D22C-6389-4D51251CDA0D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8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9979413-6040-3BCE-8D92-4072ABDBE6B2}"/>
              </a:ext>
            </a:extLst>
          </p:cNvPr>
          <p:cNvSpPr/>
          <p:nvPr/>
        </p:nvSpPr>
        <p:spPr>
          <a:xfrm>
            <a:off x="457200" y="21101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Evaluation Metrics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3B46B7F-3BF2-EFD3-B207-C615B0649F12}"/>
              </a:ext>
            </a:extLst>
          </p:cNvPr>
          <p:cNvSpPr/>
          <p:nvPr/>
        </p:nvSpPr>
        <p:spPr>
          <a:xfrm>
            <a:off x="457200" y="1143000"/>
            <a:ext cx="815926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F29A1E-D9AA-02B0-888D-5B7A931B3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915710"/>
              </p:ext>
            </p:extLst>
          </p:nvPr>
        </p:nvGraphicFramePr>
        <p:xfrm>
          <a:off x="527538" y="936995"/>
          <a:ext cx="8159856" cy="3269509"/>
        </p:xfrm>
        <a:graphic>
          <a:graphicData uri="http://schemas.openxmlformats.org/drawingml/2006/table">
            <a:tbl>
              <a:tblPr/>
              <a:tblGrid>
                <a:gridCol w="2719952">
                  <a:extLst>
                    <a:ext uri="{9D8B030D-6E8A-4147-A177-3AD203B41FA5}">
                      <a16:colId xmlns:a16="http://schemas.microsoft.com/office/drawing/2014/main" val="2853070913"/>
                    </a:ext>
                  </a:extLst>
                </a:gridCol>
                <a:gridCol w="2719952">
                  <a:extLst>
                    <a:ext uri="{9D8B030D-6E8A-4147-A177-3AD203B41FA5}">
                      <a16:colId xmlns:a16="http://schemas.microsoft.com/office/drawing/2014/main" val="2662333122"/>
                    </a:ext>
                  </a:extLst>
                </a:gridCol>
                <a:gridCol w="2719952">
                  <a:extLst>
                    <a:ext uri="{9D8B030D-6E8A-4147-A177-3AD203B41FA5}">
                      <a16:colId xmlns:a16="http://schemas.microsoft.com/office/drawing/2014/main" val="1162895192"/>
                    </a:ext>
                  </a:extLst>
                </a:gridCol>
              </a:tblGrid>
              <a:tr h="2139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Metric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What It Measures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Purpose / Interpretation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762380"/>
                  </a:ext>
                </a:extLst>
              </a:tr>
              <a:tr h="5348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ROUGE-1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/>
                        <a:t>Unigram (single word) overlap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/>
                        <a:t>Measures keyword-level content retention in the summary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013637"/>
                  </a:ext>
                </a:extLst>
              </a:tr>
              <a:tr h="37436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ROUGE-2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/>
                        <a:t>Bigram (two-word sequence) overlap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/>
                        <a:t>Evaluates fluency and phrase-level coherence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687129"/>
                  </a:ext>
                </a:extLst>
              </a:tr>
              <a:tr h="5348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ROUGE-L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/>
                        <a:t>Longest Common Subsequence (LCS)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/>
                        <a:t>Checks structural similarity, sentence flow, and readability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670658"/>
                  </a:ext>
                </a:extLst>
              </a:tr>
              <a:tr h="5348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Precision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/>
                        <a:t>Relevant content / Generated content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/>
                        <a:t>High precision = summary is accurate and avoids irrelevant text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834064"/>
                  </a:ext>
                </a:extLst>
              </a:tr>
              <a:tr h="5348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Recall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/>
                        <a:t>Relevant content / Original content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/>
                        <a:t>High recall = summary captures most important points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372529"/>
                  </a:ext>
                </a:extLst>
              </a:tr>
              <a:tr h="5348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/>
                        <a:t>F1 Score</a:t>
                      </a:r>
                      <a:endParaRPr lang="en-IN" sz="1100"/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/>
                        <a:t>Balanced average of precision &amp; recall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/>
                        <a:t>Indicates overall quality; balances completeness and correctness</a:t>
                      </a:r>
                    </a:p>
                  </a:txBody>
                  <a:tcPr marL="53481" marR="53481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34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135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Project Screenshot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E31DA8-B80D-F6D2-5776-DC8C381CE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94" y="822960"/>
            <a:ext cx="8131126" cy="34313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2C8D0-D79B-7E93-306C-5838A2B1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14F453-7F8B-16F7-1B51-A36C8E077CD3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8CC7A6-6918-2611-C62F-E6C2E8C4EBA6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8AD10A-659E-98AA-1E7D-C2C9FC29569D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6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DBA8E99-6A21-F24F-68C9-AAA4FA81B0E4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Project Screenshot</a:t>
            </a:r>
            <a:endParaRPr lang="en-US" sz="2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DF6B9DC-4189-B32D-F2A5-DEEE7BC39072}"/>
              </a:ext>
            </a:extLst>
          </p:cNvPr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8B6C8-95D9-BC5A-8332-31F342768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42" y="575979"/>
            <a:ext cx="8361125" cy="387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93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4AA71-AA20-A9E1-4AC7-F380A347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1841E4-6219-21B0-F865-2D62E3A16F45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09ADFB-5FFB-2D1A-8EB8-9A4CB2CA986A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6292AC-C86C-3E4C-A7A2-E6C682A6A00C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6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4737E38-EE08-5097-7D49-C05CA7D6B86E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Project Screenshot</a:t>
            </a:r>
            <a:endParaRPr lang="en-US" sz="2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5E77DCF-4019-9D04-63B9-97CF7A8C6CE7}"/>
              </a:ext>
            </a:extLst>
          </p:cNvPr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2834F-B726-A85E-FF71-42299E5D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" t="-141" r="40" b="-69"/>
          <a:stretch>
            <a:fillRect/>
          </a:stretch>
        </p:blipFill>
        <p:spPr>
          <a:xfrm>
            <a:off x="868993" y="692436"/>
            <a:ext cx="7891407" cy="37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71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3D794-9C25-0699-E0B1-7A302338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610B3E-1326-5EAD-C1EE-5E56815EE9AB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56B454-3BA9-95DF-ACDF-BF6BEC468D18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B1716B-0F72-D57B-C85E-B95024D690FD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6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1E465A3-7DEE-41C5-CECC-51144E413FC7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Project Screenshot</a:t>
            </a:r>
            <a:endParaRPr lang="en-US" sz="2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F3F81D0-3464-9C7B-6BA8-DABA469066A7}"/>
              </a:ext>
            </a:extLst>
          </p:cNvPr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A843B7-B3A2-AE2C-06F2-A3DB268B7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41" y="904461"/>
            <a:ext cx="8321980" cy="291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23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66729-D4AE-722C-1959-FA38882E0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7DF0DE-8C08-EA99-90B4-B02469342FCA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E1E4AC-194E-723D-49E8-523513E31713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F11941-9594-2E82-3CE5-25439D71C718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13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9E5A7DB-1DEE-C067-060E-BF46763E01EE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b="1" dirty="0">
                <a:solidFill>
                  <a:srgbClr val="277884"/>
                </a:solidFill>
                <a:latin typeface="Times New Roman"/>
                <a:cs typeface="Times New Roman"/>
              </a:rPr>
              <a:t>ROUGE and its Metrics Evaluation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FD11F8E-3299-E1EE-7C6C-C392B1317130}"/>
              </a:ext>
            </a:extLst>
          </p:cNvPr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F189D-7CB7-1889-2918-B0D4241D42AF}"/>
              </a:ext>
            </a:extLst>
          </p:cNvPr>
          <p:cNvSpPr txBox="1"/>
          <p:nvPr/>
        </p:nvSpPr>
        <p:spPr>
          <a:xfrm>
            <a:off x="814192" y="959024"/>
            <a:ext cx="7593903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ROUGE stands for Recall-Oriented Understudy for </a:t>
            </a:r>
            <a:r>
              <a:rPr lang="en-US" sz="1600" b="1" dirty="0" err="1">
                <a:latin typeface="Times New Roman"/>
                <a:cs typeface="Times New Roman"/>
              </a:rPr>
              <a:t>Gisting</a:t>
            </a:r>
            <a:r>
              <a:rPr lang="en-US" sz="1600" b="1" dirty="0">
                <a:latin typeface="Times New Roman"/>
                <a:cs typeface="Times New Roman"/>
              </a:rPr>
              <a:t> Evaluation</a:t>
            </a:r>
            <a:r>
              <a:rPr lang="en-US" sz="1600" dirty="0">
                <a:latin typeface="Times New Roman"/>
                <a:cs typeface="Times New Roman"/>
              </a:rPr>
              <a:t>.</a:t>
            </a:r>
            <a:endParaRPr lang="en-US" sz="1600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      It is a popular method to evaluate how good a text summary is.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     ROUGE checks how much your generated summary matches the human-written     (gold) summary.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There is no single “correct answer”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Different people can summarize differently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But </a:t>
            </a:r>
            <a:r>
              <a:rPr lang="en-US" b="1" dirty="0">
                <a:ea typeface="+mn-lt"/>
                <a:cs typeface="+mn-lt"/>
              </a:rPr>
              <a:t>important points should match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    ROUGE measures if your summary </a:t>
            </a:r>
            <a:r>
              <a:rPr lang="en-US" b="1" dirty="0">
                <a:ea typeface="+mn-lt"/>
                <a:cs typeface="+mn-lt"/>
              </a:rPr>
              <a:t>contains important words, phrases, and meaning</a:t>
            </a:r>
            <a:r>
              <a:rPr lang="en-US" dirty="0">
                <a:ea typeface="+mn-lt"/>
                <a:cs typeface="+mn-lt"/>
              </a:rPr>
              <a:t> from the reference summary.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30939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4538A-ED73-06A7-18AF-0BC9C5A6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ED1959-A8B0-969B-4560-2224C08775AE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FFD789-CDAF-0265-6F99-67E03CB11C8E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D204DF-9093-0914-A410-3B00ECCE06B1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13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9A43706-7AB6-8563-4231-B172582DE34F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b="1" dirty="0">
                <a:solidFill>
                  <a:srgbClr val="277884"/>
                </a:solidFill>
                <a:latin typeface="Times New Roman"/>
                <a:cs typeface="Times New Roman"/>
              </a:rPr>
              <a:t>Why use ROUGE ?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11ECC3A-622B-C83A-1552-2682AB246D05}"/>
              </a:ext>
            </a:extLst>
          </p:cNvPr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D70F9-DE0E-9B22-53A3-0D87403274FA}"/>
              </a:ext>
            </a:extLst>
          </p:cNvPr>
          <p:cNvSpPr txBox="1"/>
          <p:nvPr/>
        </p:nvSpPr>
        <p:spPr>
          <a:xfrm>
            <a:off x="571500" y="1287833"/>
            <a:ext cx="457200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ROUGE is used because: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Summaries can differ, but </a:t>
            </a:r>
            <a:r>
              <a:rPr lang="en-US" sz="1600" b="1" dirty="0">
                <a:latin typeface="Times New Roman"/>
                <a:cs typeface="Times New Roman"/>
              </a:rPr>
              <a:t>key ideas must match</a:t>
            </a:r>
            <a:r>
              <a:rPr lang="en-US" sz="1600" dirty="0">
                <a:latin typeface="Times New Roman"/>
                <a:cs typeface="Times New Roman"/>
              </a:rPr>
              <a:t>.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It works well for: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Abstractive summarization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Extractive summarization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Machine translation evaluation (sometimes)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0" lvl="1"/>
            <a:r>
              <a:rPr lang="en-US" sz="1600" b="1" dirty="0">
                <a:latin typeface="Times New Roman"/>
                <a:ea typeface="+mn-lt"/>
                <a:cs typeface="+mn-lt"/>
              </a:rPr>
              <a:t>  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Recall measures how much important content was captured by the generated summary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pPr algn="ctr"/>
            <a:endParaRPr lang="en-US" sz="1600" dirty="0"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1600" b="1" dirty="0">
                <a:latin typeface="Times New Roman"/>
                <a:ea typeface="Calibri"/>
                <a:cs typeface="Calibri"/>
              </a:rPr>
              <a:t>Recall = Overlapping Content/Content in </a:t>
            </a:r>
            <a:r>
              <a:rPr lang="en-US" sz="1600" b="1" err="1">
                <a:latin typeface="Times New Roman"/>
                <a:ea typeface="Calibri"/>
                <a:cs typeface="Calibri"/>
              </a:rPr>
              <a:t>Refrence</a:t>
            </a:r>
            <a:r>
              <a:rPr lang="en-US" sz="1600" b="1" dirty="0">
                <a:latin typeface="Times New Roman"/>
                <a:ea typeface="Calibri"/>
                <a:cs typeface="Calibri"/>
              </a:rPr>
              <a:t> Summary</a:t>
            </a:r>
          </a:p>
        </p:txBody>
      </p:sp>
    </p:spTree>
    <p:extLst>
      <p:ext uri="{BB962C8B-B14F-4D97-AF65-F5344CB8AC3E}">
        <p14:creationId xmlns:p14="http://schemas.microsoft.com/office/powerpoint/2010/main" val="3345448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135B0-DA98-7F53-8581-F8C52EEB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5CC9E4-575A-5A01-E7F9-B880288B3230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1C8FEB-9ADF-AF89-7589-F3F88DD9D855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586D72-66BB-50BF-6BA3-92C87A5A0D4D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222222"/>
                </a:solidFill>
                <a:latin typeface="Times New Roman"/>
                <a:cs typeface="Times New Roman"/>
              </a:rPr>
              <a:t>13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4914C0D-081E-FA16-270F-0C30F15EE3DE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2400" b="1" dirty="0">
              <a:solidFill>
                <a:srgbClr val="277884"/>
              </a:solidFill>
              <a:latin typeface="Times New Roman"/>
              <a:cs typeface="Times New Roman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3952A40-4917-42F0-94BB-532E3D6A77B0}"/>
              </a:ext>
            </a:extLst>
          </p:cNvPr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A07CD-7ABC-FA70-942F-ED7B215364E7}"/>
              </a:ext>
            </a:extLst>
          </p:cNvPr>
          <p:cNvSpPr txBox="1"/>
          <p:nvPr/>
        </p:nvSpPr>
        <p:spPr>
          <a:xfrm>
            <a:off x="571500" y="1287833"/>
            <a:ext cx="457200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ROUGE is used because: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Summaries can differ, but </a:t>
            </a:r>
            <a:r>
              <a:rPr lang="en-US" sz="1600" b="1" dirty="0">
                <a:latin typeface="Times New Roman"/>
                <a:cs typeface="Times New Roman"/>
              </a:rPr>
              <a:t>key ideas must match</a:t>
            </a:r>
            <a:r>
              <a:rPr lang="en-US" sz="1600" dirty="0">
                <a:latin typeface="Times New Roman"/>
                <a:cs typeface="Times New Roman"/>
              </a:rPr>
              <a:t>.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It works well for: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Abstractive summarization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Extractive summarization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228600" lvl="1" indent="-228600">
              <a:buFont typeface="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Machine translation evaluation (sometimes)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0" lvl="1"/>
            <a:r>
              <a:rPr lang="en-US" sz="1600" b="1" dirty="0">
                <a:latin typeface="Times New Roman"/>
                <a:ea typeface="+mn-lt"/>
                <a:cs typeface="+mn-lt"/>
              </a:rPr>
              <a:t>  </a:t>
            </a:r>
            <a:r>
              <a:rPr lang="en-US" sz="1600" dirty="0">
                <a:latin typeface="Times New Roman"/>
                <a:ea typeface="+mn-lt"/>
                <a:cs typeface="+mn-lt"/>
              </a:rPr>
              <a:t> Recall measures how much important content was captured by the generated summary</a:t>
            </a:r>
            <a:endParaRPr lang="en-US" sz="1600" dirty="0">
              <a:latin typeface="Times New Roman"/>
              <a:ea typeface="Calibri"/>
              <a:cs typeface="Calibri"/>
            </a:endParaRPr>
          </a:p>
          <a:p>
            <a:pPr algn="ctr"/>
            <a:endParaRPr lang="en-US" sz="1600" dirty="0"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1600" b="1" dirty="0">
                <a:latin typeface="Times New Roman"/>
                <a:ea typeface="Calibri"/>
                <a:cs typeface="Calibri"/>
              </a:rPr>
              <a:t>Recall = Overlapping Content/Content in </a:t>
            </a:r>
            <a:r>
              <a:rPr lang="en-US" sz="1600" b="1" err="1">
                <a:latin typeface="Times New Roman"/>
                <a:ea typeface="Calibri"/>
                <a:cs typeface="Calibri"/>
              </a:rPr>
              <a:t>Refrence</a:t>
            </a:r>
            <a:r>
              <a:rPr lang="en-US" sz="1600" b="1" dirty="0">
                <a:latin typeface="Times New Roman"/>
                <a:ea typeface="Calibri"/>
                <a:cs typeface="Calibri"/>
              </a:rPr>
              <a:t> Summary</a:t>
            </a:r>
          </a:p>
        </p:txBody>
      </p:sp>
    </p:spTree>
    <p:extLst>
      <p:ext uri="{BB962C8B-B14F-4D97-AF65-F5344CB8AC3E}">
        <p14:creationId xmlns:p14="http://schemas.microsoft.com/office/powerpoint/2010/main" val="4166251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D4BC6-98E5-0D41-B35E-E7D35AE4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C85F1E-DEE3-FE4F-9B66-F476B54517D4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92EE63-6762-99BB-DC70-B37C75BEA55B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EE202C-6558-89C3-D692-F2280EA1DDA5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6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BE5AE76-5564-9FEE-C9B6-47A4261A7E3B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Future Work</a:t>
            </a:r>
            <a:endParaRPr lang="en-US" sz="2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A49F10E-9108-52BC-429F-8CA856FB90FA}"/>
              </a:ext>
            </a:extLst>
          </p:cNvPr>
          <p:cNvSpPr/>
          <p:nvPr/>
        </p:nvSpPr>
        <p:spPr>
          <a:xfrm>
            <a:off x="457200" y="822959"/>
            <a:ext cx="8314006" cy="3615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2073197-2A57-2623-F14F-6609F662B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78" y="754925"/>
            <a:ext cx="865580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extractive accuracy by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embeddings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Sentence-BERT) instead of raw lexical similarity.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fine-tuning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(medical, legal, academic texts) to improve relevance and reduce hallucination.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loop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ROUGE, BLEU, and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dynamically optimize summary quality.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GPU acceleration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quantized models to reduce latency in real-time summarization.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cross-lingual summarization module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support summarizing texts across multiple languages.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multi-document summarization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for news clustering or literature review generation.</a:t>
            </a:r>
          </a:p>
        </p:txBody>
      </p:sp>
    </p:spTree>
    <p:extLst>
      <p:ext uri="{BB962C8B-B14F-4D97-AF65-F5344CB8AC3E}">
        <p14:creationId xmlns:p14="http://schemas.microsoft.com/office/powerpoint/2010/main" val="650951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600"/>
          </a:p>
        </p:txBody>
      </p:sp>
      <p:sp>
        <p:nvSpPr>
          <p:cNvPr id="7" name="Text 3"/>
          <p:cNvSpPr/>
          <p:nvPr/>
        </p:nvSpPr>
        <p:spPr>
          <a:xfrm>
            <a:off x="457200" y="140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277884"/>
                </a:solidFill>
                <a:latin typeface="Times New Roman" pitchFamily="34" charset="0"/>
                <a:cs typeface="Times New Roman" pitchFamily="34" charset="-120"/>
              </a:rPr>
              <a:t>Conclusion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457200" y="861645"/>
            <a:ext cx="8229600" cy="34078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 hybrid summarizer successfully combines the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factual precision of </a:t>
            </a:r>
            <a:r>
              <a:rPr lang="en-GB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LexRank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linguistic fluency of BART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, producing balanced and readable summaries.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a practical approach to bridging traditional extractive NLP techniques with modern transformer-based generative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extractive ranking, abstractive rewriting, and ROUGE evaluation together create a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complete end-to-end summarization pipeline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 inclusion of tone control enables more flexible summary generation suitable for academic, formal, and news-oriented contexts.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 using ROUGE metrics confirms that the hybrid model improves coherence without losing essential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system provides a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robust foundation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for building more advanced summarization tools and highlights the potential of hybrid methods in modern NLP applications.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30591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>
                <a:solidFill>
                  <a:srgbClr val="2778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485335" y="766689"/>
            <a:ext cx="8138160" cy="35239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err="1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Nenkova</a:t>
            </a:r>
            <a:r>
              <a:rPr lang="en-US" sz="160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A., &amp; McKeown, K. (2011). Automatic summarization. Foundations and Trends® in Information Retrieval, 5(2–3), 103–233.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Liu, Y., &amp; Lapata, M. (2019). Text Summarization with Pretrained Encoders. Proceedings of the 57th Annual Meeting of the Association for Computational Linguistics.</a:t>
            </a:r>
            <a:endParaRPr lang="en-US" sz="1600"/>
          </a:p>
          <a:p>
            <a:endParaRPr lang="en-US" sz="1600"/>
          </a:p>
          <a:p>
            <a:r>
              <a:rPr lang="en-US" sz="160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See, A., Liu, P. J., &amp; Manning, C. D. (2017). Get To The Point: Summarization with Pointer-Generator Networks. Proceedings of the 55th Annual Meeting of the Association for Computational Linguistics.</a:t>
            </a: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775B4-FF1F-5A5D-25DC-C0C51F563B5A}"/>
              </a:ext>
            </a:extLst>
          </p:cNvPr>
          <p:cNvSpPr txBox="1"/>
          <p:nvPr/>
        </p:nvSpPr>
        <p:spPr>
          <a:xfrm>
            <a:off x="485384" y="3072792"/>
            <a:ext cx="843158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Lewis, M., et al. (2020).</a:t>
            </a:r>
            <a:br>
              <a:rPr lang="en-US" sz="1600">
                <a:latin typeface="Times New Roman"/>
              </a:rPr>
            </a:br>
            <a:r>
              <a:rPr lang="en-US" sz="1600" i="1">
                <a:latin typeface="Times New Roman"/>
                <a:cs typeface="Times New Roman"/>
              </a:rPr>
              <a:t>BART: Denoising Sequence-to-Sequence Pre-training for Natural Language Generation, Translation, and Comprehension.</a:t>
            </a:r>
            <a:br>
              <a:rPr lang="en-US" sz="1600">
                <a:latin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ACL (Association for Computational Linguistics).</a:t>
            </a:r>
            <a:br>
              <a:rPr lang="en-US" sz="1600">
                <a:latin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(Original BART model research)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D08AB-315A-052E-7A4B-1306F7B1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C002B0-2F0B-7EC3-30FD-C41A546390EB}"/>
              </a:ext>
            </a:extLst>
          </p:cNvPr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EA8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9B65CD-3881-CF45-1C42-600505A52FE0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E4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C3A62E-C0B5-187D-3844-515FBC1BDB57}"/>
              </a:ext>
            </a:extLst>
          </p:cNvPr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8D86E8-EC6E-6968-3BD3-15069C007817}"/>
              </a:ext>
            </a:extLst>
          </p:cNvPr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DF06DE-482F-EC07-7DBF-54E766B5611E}"/>
              </a:ext>
            </a:extLst>
          </p:cNvPr>
          <p:cNvSpPr/>
          <p:nvPr/>
        </p:nvSpPr>
        <p:spPr>
          <a:xfrm>
            <a:off x="1870641" y="1670032"/>
            <a:ext cx="4761914" cy="3323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66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4959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6F8AA8F5E07E41A01CF44362A3C687" ma:contentTypeVersion="5" ma:contentTypeDescription="Create a new document." ma:contentTypeScope="" ma:versionID="71a3d08f3e3d0f5f8ff34016ad9c8b5e">
  <xsd:schema xmlns:xsd="http://www.w3.org/2001/XMLSchema" xmlns:xs="http://www.w3.org/2001/XMLSchema" xmlns:p="http://schemas.microsoft.com/office/2006/metadata/properties" xmlns:ns3="7bfdfad6-f6ae-4011-a054-645cd3db4f96" targetNamespace="http://schemas.microsoft.com/office/2006/metadata/properties" ma:root="true" ma:fieldsID="a1cb568a65094bc44b0e7095dfca5296" ns3:_="">
    <xsd:import namespace="7bfdfad6-f6ae-4011-a054-645cd3db4f9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dfad6-f6ae-4011-a054-645cd3db4f9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fdfad6-f6ae-4011-a054-645cd3db4f96" xsi:nil="true"/>
  </documentManagement>
</p:properties>
</file>

<file path=customXml/itemProps1.xml><?xml version="1.0" encoding="utf-8"?>
<ds:datastoreItem xmlns:ds="http://schemas.openxmlformats.org/officeDocument/2006/customXml" ds:itemID="{B76DC571-09DC-4FE5-BFE8-21C7A9313E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A4B5E5-D663-4B6E-96C2-B1C7B753CAF0}">
  <ds:schemaRefs>
    <ds:schemaRef ds:uri="7bfdfad6-f6ae-4011-a054-645cd3db4f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E3DC958-DC8A-44EE-B7DB-87F3ECF7FB89}">
  <ds:schemaRefs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7bfdfad6-f6ae-4011-a054-645cd3db4f9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Microsoft Office PowerPoint</Application>
  <PresentationFormat>On-screen Show (16:9)</PresentationFormat>
  <Paragraphs>225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Text Summarization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Sumarization</dc:title>
  <dc:subject>Text Sumarization</dc:subject>
  <dc:creator>SlideMake.com</dc:creator>
  <cp:lastModifiedBy>Piyush Prakhar</cp:lastModifiedBy>
  <cp:revision>102</cp:revision>
  <dcterms:created xsi:type="dcterms:W3CDTF">2025-11-20T17:47:42Z</dcterms:created>
  <dcterms:modified xsi:type="dcterms:W3CDTF">2025-11-28T05:45:42Z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0x0101002B6F8AA8F5E07E41A01CF44362A3C687</vt:lpwstr>
  </property>
</Properties>
</file>